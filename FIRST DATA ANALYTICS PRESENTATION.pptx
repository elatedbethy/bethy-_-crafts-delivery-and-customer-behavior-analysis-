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73" r:id="rId2"/>
    <p:sldId id="267" r:id="rId3"/>
    <p:sldId id="265" r:id="rId4"/>
    <p:sldId id="269" r:id="rId5"/>
    <p:sldId id="268" r:id="rId6"/>
    <p:sldId id="270" r:id="rId7"/>
    <p:sldId id="27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765" autoAdjust="0"/>
    <p:restoredTop sz="94660"/>
  </p:normalViewPr>
  <p:slideViewPr>
    <p:cSldViewPr snapToGrid="0">
      <p:cViewPr>
        <p:scale>
          <a:sx n="50" d="100"/>
          <a:sy n="50" d="100"/>
        </p:scale>
        <p:origin x="876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E9CA2-AA11-41AD-AA06-7DFAD820544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9EEA-5C04-4A95-B3A1-CCD63D8992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422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E9CA2-AA11-41AD-AA06-7DFAD820544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9EEA-5C04-4A95-B3A1-CCD63D8992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130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E9CA2-AA11-41AD-AA06-7DFAD820544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9EEA-5C04-4A95-B3A1-CCD63D8992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755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E9CA2-AA11-41AD-AA06-7DFAD820544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9EEA-5C04-4A95-B3A1-CCD63D8992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701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E9CA2-AA11-41AD-AA06-7DFAD820544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9EEA-5C04-4A95-B3A1-CCD63D8992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728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E9CA2-AA11-41AD-AA06-7DFAD820544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9EEA-5C04-4A95-B3A1-CCD63D8992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818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E9CA2-AA11-41AD-AA06-7DFAD820544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9EEA-5C04-4A95-B3A1-CCD63D8992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78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E9CA2-AA11-41AD-AA06-7DFAD820544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9EEA-5C04-4A95-B3A1-CCD63D8992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0938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E9CA2-AA11-41AD-AA06-7DFAD820544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9EEA-5C04-4A95-B3A1-CCD63D8992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664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E9CA2-AA11-41AD-AA06-7DFAD820544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9EEA-5C04-4A95-B3A1-CCD63D8992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93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E9CA2-AA11-41AD-AA06-7DFAD820544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9EEA-5C04-4A95-B3A1-CCD63D8992D1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627740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E9CA2-AA11-41AD-AA06-7DFAD820544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9EEA-5C04-4A95-B3A1-CCD63D8992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9976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E9CA2-AA11-41AD-AA06-7DFAD820544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9EEA-5C04-4A95-B3A1-CCD63D8992D1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512164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E9CA2-AA11-41AD-AA06-7DFAD820544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9EEA-5C04-4A95-B3A1-CCD63D8992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8874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E9CA2-AA11-41AD-AA06-7DFAD820544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9EEA-5C04-4A95-B3A1-CCD63D8992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29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E9CA2-AA11-41AD-AA06-7DFAD820544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9EEA-5C04-4A95-B3A1-CCD63D8992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101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0E9CA2-AA11-41AD-AA06-7DFAD820544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5759EEA-5C04-4A95-B3A1-CCD63D8992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14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F7D4747-2978-CADF-1A9F-A8205B054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cap="none" spc="0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Bethy_Craft</a:t>
            </a:r>
            <a:r>
              <a:rPr lang="en-US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Delivery and Customer </a:t>
            </a:r>
            <a:r>
              <a:rPr lang="en-US" b="1" cap="none" spc="0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Behaviour</a:t>
            </a:r>
            <a:r>
              <a:rPr lang="en-US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DA9676-B31D-0EC0-B8BE-4A648D27A6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PROJECT OVERVIEW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project is to analyze customer purchasing patterns, warehouse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performance,shipment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preferences and revenue contribution to understand what drives business growth.</a:t>
            </a:r>
          </a:p>
        </p:txBody>
      </p:sp>
    </p:spTree>
    <p:extLst>
      <p:ext uri="{BB962C8B-B14F-4D97-AF65-F5344CB8AC3E}">
        <p14:creationId xmlns:p14="http://schemas.microsoft.com/office/powerpoint/2010/main" val="3077640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845F3-532A-E2FE-4D55-F88B83018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cap="none" dirty="0">
                <a:latin typeface="Arial" panose="020B0604020202020204" pitchFamily="34" charset="0"/>
                <a:cs typeface="Arial" panose="020B0604020202020204" pitchFamily="34" charset="0"/>
              </a:rPr>
              <a:t>Orders are evenly distributed across all the warehouse blocks but block e has the highest orders</a:t>
            </a:r>
            <a:br>
              <a:rPr lang="en-US" sz="1600" b="1" cap="none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1600" b="1" cap="none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b="1" cap="none" dirty="0">
                <a:latin typeface="Arial" panose="020B0604020202020204" pitchFamily="34" charset="0"/>
                <a:cs typeface="Arial" panose="020B0604020202020204" pitchFamily="34" charset="0"/>
              </a:rPr>
              <a:t>ship is the dominant shipment mode </a:t>
            </a:r>
          </a:p>
        </p:txBody>
      </p:sp>
      <p:pic>
        <p:nvPicPr>
          <p:cNvPr id="5" name="Content Placeholder 8">
            <a:extLst>
              <a:ext uri="{FF2B5EF4-FFF2-40B4-BE49-F238E27FC236}">
                <a16:creationId xmlns:a16="http://schemas.microsoft.com/office/drawing/2014/main" id="{215A8F01-41F6-783C-90A1-5497A63A25C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15912" y="1930400"/>
            <a:ext cx="5277395" cy="4104640"/>
          </a:xfrm>
          <a:prstGeom prst="rect">
            <a:avLst/>
          </a:prstGeom>
        </p:spPr>
      </p:pic>
      <p:pic>
        <p:nvPicPr>
          <p:cNvPr id="6" name="Content Placeholder 9">
            <a:extLst>
              <a:ext uri="{FF2B5EF4-FFF2-40B4-BE49-F238E27FC236}">
                <a16:creationId xmlns:a16="http://schemas.microsoft.com/office/drawing/2014/main" id="{CF58F7ED-B16A-1FBC-902C-52ABCBA17EF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581650" y="1694809"/>
            <a:ext cx="4811924" cy="4340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494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AC1CB-CD38-542C-D00C-0818E6852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b="1" cap="none" dirty="0">
                <a:latin typeface="Arial" panose="020B0604020202020204" pitchFamily="34" charset="0"/>
                <a:cs typeface="Arial" panose="020B0604020202020204" pitchFamily="34" charset="0"/>
              </a:rPr>
              <a:t>Total customer care calls is higher than total orders</a:t>
            </a:r>
            <a:br>
              <a:rPr lang="en-US" sz="1800" b="1" cap="none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b="1" cap="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US" sz="1800" b="1" cap="none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b="1" cap="none" dirty="0">
                <a:latin typeface="Arial" panose="020B0604020202020204" pitchFamily="34" charset="0"/>
                <a:cs typeface="Arial" panose="020B0604020202020204" pitchFamily="34" charset="0"/>
              </a:rPr>
              <a:t>Gender distribution is balanced across all shipment mode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51E09A8-CD36-F223-198E-E783F78F343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51263" y="1743058"/>
            <a:ext cx="4933469" cy="4335154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0EFFCFC-92FB-7206-44A5-BF65A28933E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384732" y="1743058"/>
            <a:ext cx="5149180" cy="4335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524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D7209-E721-DDD9-15FF-FF6316E51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cap="none" dirty="0">
                <a:latin typeface="Arial" panose="020B0604020202020204" pitchFamily="34" charset="0"/>
                <a:cs typeface="Arial" panose="020B0604020202020204" pitchFamily="34" charset="0"/>
              </a:rPr>
              <a:t>Male customers slightly outnumber female customers</a:t>
            </a:r>
            <a:br>
              <a:rPr lang="en-US" sz="1600" b="1" cap="none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1600" b="1" cap="none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b="1" cap="none" dirty="0">
                <a:latin typeface="Arial" panose="020B0604020202020204" pitchFamily="34" charset="0"/>
                <a:cs typeface="Arial" panose="020B0604020202020204" pitchFamily="34" charset="0"/>
              </a:rPr>
              <a:t>Sum of customer ratings outweighs total order count</a:t>
            </a:r>
            <a:br>
              <a:rPr lang="en-US" sz="1600" dirty="0"/>
            </a:br>
            <a:endParaRPr lang="en-US" sz="1600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1980AFEE-234B-D51C-89CD-5003D78238C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011786" y="2543751"/>
            <a:ext cx="3515216" cy="3115110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5C3CF02-458E-88C1-59A3-AFFDA5D8FF3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819585" y="2810489"/>
            <a:ext cx="2724530" cy="2581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5677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D8EB-C6F9-03D7-25FF-FC286CDF8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 </a:t>
            </a:r>
            <a:r>
              <a:rPr lang="en-US" sz="1600" b="1" cap="none" dirty="0">
                <a:latin typeface="Arial" panose="020B0604020202020204" pitchFamily="34" charset="0"/>
                <a:cs typeface="Arial" panose="020B0604020202020204" pitchFamily="34" charset="0"/>
              </a:rPr>
              <a:t>The high cost group($251-$310)contributes the highest total revenue despite similar order count</a:t>
            </a:r>
            <a:br>
              <a:rPr lang="en-US" sz="1600" b="1" cap="none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1600" b="1" cap="none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b="1" cap="none" dirty="0">
                <a:latin typeface="Arial" panose="020B0604020202020204" pitchFamily="34" charset="0"/>
                <a:cs typeface="Arial" panose="020B0604020202020204" pitchFamily="34" charset="0"/>
              </a:rPr>
              <a:t> Low-importance products dominate sales at 49%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98AC061-0BF3-F770-F870-36191E07E7B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024128" y="2187379"/>
            <a:ext cx="4188961" cy="4085405"/>
          </a:xfrm>
          <a:prstGeom prst="rect">
            <a:avLst/>
          </a:prstGeo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18BBC31-DC50-B3A5-E229-A41972F1149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884163" y="2084832"/>
            <a:ext cx="5995533" cy="3416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0275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F5527-C73D-96EC-5A79-FA833A477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685800" indent="-685800">
              <a:buFont typeface="Wingdings" panose="05000000000000000000" pitchFamily="2" charset="2"/>
              <a:buChar char="Ø"/>
            </a:pPr>
            <a:r>
              <a:rPr lang="en-US" sz="1600" b="1" cap="none" dirty="0">
                <a:latin typeface="Arial" panose="020B0604020202020204" pitchFamily="34" charset="0"/>
                <a:cs typeface="Arial" panose="020B0604020202020204" pitchFamily="34" charset="0"/>
              </a:rPr>
              <a:t>Block e generates the highest revenue which is double the revenue of other block.</a:t>
            </a:r>
            <a:br>
              <a:rPr lang="en-US" sz="1600" b="1" cap="none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1600" b="1" cap="none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b="1" cap="none" dirty="0">
                <a:latin typeface="Arial" panose="020B0604020202020204" pitchFamily="34" charset="0"/>
                <a:cs typeface="Arial" panose="020B0604020202020204" pitchFamily="34" charset="0"/>
              </a:rPr>
              <a:t>Female customers generate slightly higher revenue than male customers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A5F00BD-7D87-1889-1551-A66C2F58587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77334" y="1930400"/>
            <a:ext cx="4180416" cy="4355724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F632DE3-172F-BDF4-6FCC-7459521A97B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5668" y="1892299"/>
            <a:ext cx="4298334" cy="4636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8128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994F2-DA4E-8308-8C8A-3F3445E57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685800" indent="-685800">
              <a:buFont typeface="Wingdings" panose="05000000000000000000" pitchFamily="2" charset="2"/>
              <a:buChar char="Ø"/>
            </a:pPr>
            <a:r>
              <a:rPr lang="en-US" sz="1600" b="1" cap="none" dirty="0">
                <a:latin typeface="Arial" panose="020B0604020202020204" pitchFamily="34" charset="0"/>
                <a:cs typeface="Arial" panose="020B0604020202020204" pitchFamily="34" charset="0"/>
              </a:rPr>
              <a:t>Ship mode generates the highest revenue more than four times the revenue from road and </a:t>
            </a:r>
            <a:r>
              <a:rPr lang="en-US" sz="1600" b="1" cap="none" dirty="0" err="1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en-US" sz="1600" b="1" cap="none" dirty="0">
                <a:latin typeface="Arial" panose="020B0604020202020204" pitchFamily="34" charset="0"/>
                <a:cs typeface="Arial" panose="020B0604020202020204" pitchFamily="34" charset="0"/>
              </a:rPr>
              <a:t> flight</a:t>
            </a:r>
            <a:br>
              <a:rPr lang="en-US" sz="1600" b="1" cap="none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1600" b="1" cap="none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b="1" cap="none" dirty="0">
                <a:latin typeface="Arial" panose="020B0604020202020204" pitchFamily="34" charset="0"/>
                <a:cs typeface="Arial" panose="020B0604020202020204" pitchFamily="34" charset="0"/>
              </a:rPr>
              <a:t>low importance products generates the highest revenue.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4EB6248-A7E2-6ED9-0F81-5D3A277714B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107049" y="2796199"/>
            <a:ext cx="3324689" cy="2610214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13B6994-2AD1-9C6F-910B-E5536B2EAA4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495689" y="2205567"/>
            <a:ext cx="3372321" cy="3791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8864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4D0F3CF-9CF1-7484-FCC8-BAAEE285C24B}"/>
              </a:ext>
            </a:extLst>
          </p:cNvPr>
          <p:cNvSpPr txBox="1"/>
          <p:nvPr/>
        </p:nvSpPr>
        <p:spPr>
          <a:xfrm>
            <a:off x="2438400" y="1133475"/>
            <a:ext cx="4648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00B0F0"/>
                </a:solidFill>
              </a:rPr>
              <a:t>CONCLUSION</a:t>
            </a:r>
            <a:r>
              <a:rPr lang="en-US" b="1" dirty="0">
                <a:solidFill>
                  <a:srgbClr val="00B0F0"/>
                </a:solidFill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A8A3C0-914E-25F8-5A45-548F71650E5B}"/>
              </a:ext>
            </a:extLst>
          </p:cNvPr>
          <p:cNvSpPr txBox="1"/>
          <p:nvPr/>
        </p:nvSpPr>
        <p:spPr>
          <a:xfrm>
            <a:off x="952500" y="2705099"/>
            <a:ext cx="7829550" cy="1815882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/>
              <a:t>This analysis of 10,999orders reveals that business performance is not driven by product importance, but by cost and logistics.</a:t>
            </a:r>
          </a:p>
        </p:txBody>
      </p:sp>
    </p:spTree>
    <p:extLst>
      <p:ext uri="{BB962C8B-B14F-4D97-AF65-F5344CB8AC3E}">
        <p14:creationId xmlns:p14="http://schemas.microsoft.com/office/powerpoint/2010/main" val="285735367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130</TotalTime>
  <Words>199</Words>
  <Application>Microsoft Office PowerPoint</Application>
  <PresentationFormat>Widescreen</PresentationFormat>
  <Paragraphs>11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Trebuchet MS</vt:lpstr>
      <vt:lpstr>Wingdings</vt:lpstr>
      <vt:lpstr>Wingdings 3</vt:lpstr>
      <vt:lpstr>Facet</vt:lpstr>
      <vt:lpstr>Bethy_Craft Delivery and Customer Behaviour Analysis</vt:lpstr>
      <vt:lpstr>Orders are evenly distributed across all the warehouse blocks but block e has the highest orders  ship is the dominant shipment mode </vt:lpstr>
      <vt:lpstr>Total customer care calls is higher than total orders   Gender distribution is balanced across all shipment mode </vt:lpstr>
      <vt:lpstr>Male customers slightly outnumber female customers  Sum of customer ratings outweighs total order count </vt:lpstr>
      <vt:lpstr> The high cost group($251-$310)contributes the highest total revenue despite similar order count   Low-importance products dominate sales at 49%</vt:lpstr>
      <vt:lpstr>Block e generates the highest revenue which is double the revenue of other block.  Female customers generate slightly higher revenue than male customers</vt:lpstr>
      <vt:lpstr>Ship mode generates the highest revenue more than four times the revenue from road and and flight  low importance products generates the highest revenue.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adeyemo</dc:creator>
  <cp:lastModifiedBy>adeyemo</cp:lastModifiedBy>
  <cp:revision>8</cp:revision>
  <dcterms:created xsi:type="dcterms:W3CDTF">2026-10-09T21:09:37Z</dcterms:created>
  <dcterms:modified xsi:type="dcterms:W3CDTF">2026-10-10T06:45:43Z</dcterms:modified>
</cp:coreProperties>
</file>